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201168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3E6EF"/>
                </a:solidFill>
                <a:latin typeface="Arial"/>
              </a:rPr>
              <a:t>KA PLAYGROUND</a:t>
            </a:r>
          </a:p>
          <a:p>
            <a:pPr algn="l">
              <a:spcAft>
                <a:spcPts val="1000"/>
              </a:spcAft>
            </a:pPr>
            <a:r>
              <a:rPr sz="2600" b="1">
                <a:solidFill>
                  <a:srgbClr val="C9A227"/>
                </a:solidFill>
                <a:latin typeface="Arial"/>
              </a:rPr>
              <a:t>Features &amp; Test Catalogue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8C0"/>
                </a:solidFill>
                <a:latin typeface="Arial"/>
              </a:rPr>
              <a:t>A production platform for enrolment, consent, money, teams and finance — Armour Academy (Kings Network).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8C0"/>
                </a:solidFill>
                <a:latin typeface="Arial"/>
              </a:rPr>
              <a:t>Built &amp; tested — with an honest map of what is live, what is engine-ready, and what is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OVERVIEW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One platform, three hard problems solved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Arial"/>
              </a:rPr>
              <a:t>•  Child safety by construction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Consent that must be signed against the right document; guardian identities that never leak; deny-by-default access.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Arial"/>
              </a:rPr>
              <a:t>•  Financial integrity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Gapless receipts, immutable order lines, segregation of duty on every manual payment and refund — enforced at the database, not just the screen.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Arial"/>
              </a:rPr>
              <a:t>•  Multi-party workflow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Students, guardians, teachers, schools and the academy — self-registration, two-decision linkage, and team formation (成團) with real seat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THE STORY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Three pillars carry the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474720" cy="2194560"/>
          </a:xfrm>
          <a:prstGeom prst="rect">
            <a:avLst/>
          </a:prstGeom>
          <a:solidFill>
            <a:srgbClr val="3A2A3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CHILD SAFETY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3E6EF"/>
                </a:solidFill>
                <a:latin typeface="Arial"/>
              </a:rPr>
              <a:t>consent · privacy ·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19" y="2377440"/>
            <a:ext cx="3474720" cy="2194560"/>
          </a:xfrm>
          <a:prstGeom prst="rect">
            <a:avLst/>
          </a:prstGeom>
          <a:solidFill>
            <a:srgbClr val="3A2A3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FINANCIAL INTEGRITY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3E6EF"/>
                </a:solidFill>
                <a:latin typeface="Arial"/>
              </a:rPr>
              <a:t>receipts · SoD · no partial pay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58" y="2377440"/>
            <a:ext cx="3474720" cy="2194560"/>
          </a:xfrm>
          <a:prstGeom prst="rect">
            <a:avLst/>
          </a:prstGeom>
          <a:solidFill>
            <a:srgbClr val="3A2A3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MULTI-PARTY WORKFLOW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3E6EF"/>
                </a:solidFill>
                <a:latin typeface="Arial"/>
              </a:rPr>
              <a:t>register · link · 成團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HONEST STATUS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What is live, what is engine-ready, what 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Enrolment &amp; Consent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7CC68A"/>
                </a:solidFill>
                <a:latin typeface="Arial"/>
              </a:rPr>
              <a:t>BUILT +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06624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Team Formation (成團)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7CC68A"/>
                </a:solidFill>
                <a:latin typeface="Arial"/>
              </a:rPr>
              <a:t>BUILT +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93008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Financial Integrity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7CC68A"/>
                </a:solidFill>
                <a:latin typeface="Arial"/>
              </a:rPr>
              <a:t>BUILT +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79392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Onboarding &amp; Linkage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7CC68A"/>
                </a:solidFill>
                <a:latin typeface="Arial"/>
              </a:rPr>
              <a:t>BUILT +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65776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Anonymous &amp; Child-Safety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7CC68A"/>
                </a:solidFill>
                <a:latin typeface="Arial"/>
              </a:rPr>
              <a:t>BUILT +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Admin Cockpit &amp; Platform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7CC68A"/>
                </a:solidFill>
                <a:latin typeface="Arial"/>
              </a:rPr>
              <a:t>BUILT +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706624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Bulk Enrolment &amp; Batch Intake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E7C16B"/>
                </a:solidFill>
                <a:latin typeface="Arial"/>
              </a:rPr>
              <a:t>BUILT — no UI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93008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School-Settled Invoicing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E7C16B"/>
                </a:solidFill>
                <a:latin typeface="Arial"/>
              </a:rPr>
              <a:t>BUILT — no UI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79392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Team-Project Finance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E7C16B"/>
                </a:solidFill>
                <a:latin typeface="Arial"/>
              </a:rPr>
              <a:t>BUILT — no UI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65776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6EF"/>
                </a:solidFill>
                <a:latin typeface="Arial"/>
              </a:rPr>
              <a:t>Learning Delivery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E7C16B"/>
                </a:solidFill>
                <a:latin typeface="Arial"/>
              </a:rPr>
              <a:t>BUILT — no UI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9A8C0"/>
                </a:solidFill>
                <a:latin typeface="Arial"/>
              </a:rPr>
              <a:t>6 of 10 pillars have a real UI today. 4 are a tested engine with the screen still to come — shown as such, never as finished.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PROOF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Two independent proof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651760" cy="2011680"/>
          </a:xfrm>
          <a:prstGeom prst="rect">
            <a:avLst/>
          </a:prstGeom>
          <a:solidFill>
            <a:srgbClr val="3A2A3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227"/>
                </a:solidFill>
                <a:latin typeface="Arial"/>
              </a:rPr>
              <a:t>449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3E6EF"/>
                </a:solidFill>
                <a:latin typeface="Arial"/>
              </a:rPr>
              <a:t>automated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377440"/>
            <a:ext cx="2651760" cy="2011680"/>
          </a:xfrm>
          <a:prstGeom prst="rect">
            <a:avLst/>
          </a:prstGeom>
          <a:solidFill>
            <a:srgbClr val="3A2A3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227"/>
                </a:solidFill>
                <a:latin typeface="Arial"/>
              </a:rPr>
              <a:t>70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3E6EF"/>
                </a:solidFill>
                <a:latin typeface="Arial"/>
              </a:rPr>
              <a:t>test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377440"/>
            <a:ext cx="2651760" cy="2011680"/>
          </a:xfrm>
          <a:prstGeom prst="rect">
            <a:avLst/>
          </a:prstGeom>
          <a:solidFill>
            <a:srgbClr val="3A2A3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227"/>
                </a:solidFill>
                <a:latin typeface="Arial"/>
              </a:rPr>
              <a:t>58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3E6EF"/>
                </a:solidFill>
                <a:latin typeface="Arial"/>
              </a:rPr>
              <a:t>reconciliation
assertions (nightly)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40" y="2377440"/>
            <a:ext cx="2651760" cy="2011680"/>
          </a:xfrm>
          <a:prstGeom prst="rect">
            <a:avLst/>
          </a:prstGeom>
          <a:solidFill>
            <a:srgbClr val="3A2A3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227"/>
                </a:solidFill>
                <a:latin typeface="Arial"/>
              </a:rPr>
              <a:t>10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3E6EF"/>
                </a:solidFill>
                <a:latin typeface="Arial"/>
              </a:rPr>
              <a:t>BI invariants
DB-enforced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8C0"/>
                </a:solidFill>
                <a:latin typeface="Arial"/>
              </a:rPr>
              <a:t>The 449 unit/feature tests and the 58 nightly reconciliation assertions are SEPARATE proofs — a green test suite and a self-reconciling ledger. We never merge them into one flattering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ONBOARDING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Self-registration → approval → verify</a:t>
            </a:r>
          </a:p>
        </p:txBody>
      </p:sp>
      <p:pic>
        <p:nvPicPr>
          <p:cNvPr id="5" name="Picture 4" descr="S04C-01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1920240"/>
            <a:ext cx="3364991" cy="4206240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6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Public self-registration (anonymous, no enumeration)</a:t>
            </a:r>
          </a:p>
        </p:txBody>
      </p:sp>
      <p:pic>
        <p:nvPicPr>
          <p:cNvPr id="7" name="Picture 6" descr="S04C-03-activ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20240"/>
            <a:ext cx="5047488" cy="4206240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09360" y="6146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Email verification before first login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CONSENT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In-house e-sign against the right document (BI-6)</a:t>
            </a:r>
          </a:p>
        </p:txBody>
      </p:sp>
      <p:pic>
        <p:nvPicPr>
          <p:cNvPr id="5" name="Picture 4" descr="sign-en-gate1-un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486400" cy="3857625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797865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Gate unmet — signing is blocked</a:t>
            </a:r>
          </a:p>
        </p:txBody>
      </p:sp>
      <p:pic>
        <p:nvPicPr>
          <p:cNvPr id="7" name="Picture 6" descr="sign-en-sig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857625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09360" y="5797865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Signed — hashed to the language-scoped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ENROLMENT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Enrolment is intent; the awaiting-a-team pool</a:t>
            </a:r>
          </a:p>
        </p:txBody>
      </p:sp>
      <p:pic>
        <p:nvPicPr>
          <p:cNvPr id="5" name="Picture 4" descr="04-audit-enrolment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10" y="1828800"/>
            <a:ext cx="5600700" cy="4480560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60320" y="632936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Consented, unteamed students wait in a pool (no waitlist)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TEAM FORMATION (成團)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Advisory confirm, server-authoritative refusal</a:t>
            </a:r>
          </a:p>
        </p:txBody>
      </p:sp>
      <p:pic>
        <p:nvPicPr>
          <p:cNvPr id="5" name="Picture 4" descr="step2-1-blocking-advis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3611880" cy="2426732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454985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Advisory over a blocking member</a:t>
            </a:r>
          </a:p>
        </p:txBody>
      </p:sp>
      <p:pic>
        <p:nvPicPr>
          <p:cNvPr id="7" name="Picture 6" descr="step2-2-422-rend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103120"/>
            <a:ext cx="3611880" cy="2426732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24528" y="454985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Server refuses (422) — shown, not hidden</a:t>
            </a:r>
          </a:p>
        </p:txBody>
      </p:sp>
      <p:pic>
        <p:nvPicPr>
          <p:cNvPr id="9" name="Picture 8" descr="step2-3-clean-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103120"/>
            <a:ext cx="3611880" cy="2426732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955279" y="454985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Clean 成團 — seats claimed, obligations issued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FINANCIAL INTEGRITY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Segregation of duty (BI-9), enforced at the database</a:t>
            </a:r>
          </a:p>
        </p:txBody>
      </p:sp>
      <p:pic>
        <p:nvPicPr>
          <p:cNvPr id="5" name="Picture 4" descr="BI9a-recorder-confirm-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486400" cy="4034118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7435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Recorder cannot confirm their own payment (403)</a:t>
            </a:r>
          </a:p>
        </p:txBody>
      </p:sp>
      <p:pic>
        <p:nvPicPr>
          <p:cNvPr id="7" name="Picture 6" descr="BI9b-second-person-confirm-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4034118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09360" y="597435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A second finance user confirms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FINANCIAL INTEGRITY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Family payments &amp; refunds</a:t>
            </a:r>
          </a:p>
        </p:txBody>
      </p:sp>
      <p:pic>
        <p:nvPicPr>
          <p:cNvPr id="5" name="Picture 4" descr="P1-payment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3611880" cy="2655794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4778914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Payments queue</a:t>
            </a:r>
          </a:p>
        </p:txBody>
      </p:sp>
      <p:pic>
        <p:nvPicPr>
          <p:cNvPr id="7" name="Picture 6" descr="R1-refund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103120"/>
            <a:ext cx="3611880" cy="2390215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24528" y="4513335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Refunds (approve ≠ confirm)</a:t>
            </a:r>
          </a:p>
        </p:txBody>
      </p:sp>
      <p:pic>
        <p:nvPicPr>
          <p:cNvPr id="9" name="Picture 8" descr="06-finance-financial-integrity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010" y="2103120"/>
            <a:ext cx="3296417" cy="3291840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955279" y="5414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Financial-integrity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CHILD SAFETY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Anonymous pay, privacy &amp; deny-by-default</a:t>
            </a:r>
          </a:p>
        </p:txBody>
      </p:sp>
      <p:pic>
        <p:nvPicPr>
          <p:cNvPr id="5" name="Picture 4" descr="S04C-02-public-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103120"/>
            <a:ext cx="3291840" cy="3291840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5414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Forwardable /pay — initials only, no PII</a:t>
            </a:r>
          </a:p>
        </p:txBody>
      </p:sp>
      <p:pic>
        <p:nvPicPr>
          <p:cNvPr id="7" name="Picture 6" descr="step2-4-guardian-4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103120"/>
            <a:ext cx="3611880" cy="2426732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24528" y="454985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Guardian denied the roster (403)</a:t>
            </a:r>
          </a:p>
        </p:txBody>
      </p:sp>
      <p:pic>
        <p:nvPicPr>
          <p:cNvPr id="9" name="Picture 8" descr="10-SCOPING-wendy-DENIED-financial-integ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103120"/>
            <a:ext cx="3611880" cy="2508250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955279" y="463137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Scoped user denied another family's money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DEMO · ADMIN COCKPIT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Append-only audit spine for the client</a:t>
            </a:r>
          </a:p>
        </p:txBody>
      </p:sp>
      <p:pic>
        <p:nvPicPr>
          <p:cNvPr id="5" name="Picture 4" descr="09-super-audi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07" y="1828800"/>
            <a:ext cx="2971905" cy="4480560"/>
          </a:xfrm>
          <a:prstGeom prst="rect">
            <a:avLst/>
          </a:prstGeom>
          <a:ln w="12700">
            <a:solidFill>
              <a:srgbClr val="C9A22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60320" y="632936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9A8C0"/>
                </a:solidFill>
                <a:latin typeface="Arial"/>
              </a:rPr>
              <a:t>Every status transition writes an actor-carrying audit event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BUILT — NO UI YET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Four pillars are a tested engine, screen still to 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•  Bulk Enrolment &amp; Batch Intake (S04E)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F3E6EF"/>
                </a:solidFill>
                <a:latin typeface="Arial"/>
              </a:rPr>
              <a:t>Scan-gated CSV intake, batch commit as intent, batch dashboard — 18 automated tests, no screen yet.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•  School-Settled Invoicing (S04F)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F3E6EF"/>
                </a:solidFill>
                <a:latin typeface="Arial"/>
              </a:rPr>
              <a:t>Consolidated invoices where the school is payer, never collector; aging with no silent overdue — 16 automated tests, no screen yet.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•  Team-Project Finance (S07)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F3E6EF"/>
                </a:solidFill>
                <a:latin typeface="Arial"/>
              </a:rPr>
              <a:t>Record-only budgets, verified transactions with evidence, charity guardrails — 17 automated tests, no screen yet.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•  Learning Delivery (S06)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F3E6EF"/>
                </a:solidFill>
                <a:latin typeface="Arial"/>
              </a:rPr>
              <a:t>Activation, sessions/attendance, Learn gate, assessment, Member surfaces — 34 automated tests, no screen yet.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7C16B"/>
                </a:solidFill>
                <a:latin typeface="Arial"/>
              </a:rPr>
              <a:t>These are shown here truthfully — no mock screen stands in for a screen that does not exist.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Technical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8C0"/>
                </a:solidFill>
                <a:latin typeface="Arial"/>
              </a:rPr>
              <a:t>Coverage · Build invariants · The reconciliation battery · Elevation &amp; privacy discipline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APPENDIX · COVERAGE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Per-category coverage (three maturity states)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280160"/>
                <a:gridCol w="1097280"/>
                <a:gridCol w="1920240"/>
                <a:gridCol w="1828800"/>
                <a:gridCol w="1280160"/>
              </a:tblGrid>
              <a:tr h="3733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3E6E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B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3E6E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2B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3E6EF"/>
                          </a:solidFill>
                        </a:rPr>
                        <a:t>Feat</a:t>
                      </a:r>
                    </a:p>
                  </a:txBody>
                  <a:tcPr>
                    <a:solidFill>
                      <a:srgbClr val="2B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3E6EF"/>
                          </a:solidFill>
                        </a:rPr>
                        <a:t>Auto tests</a:t>
                      </a:r>
                    </a:p>
                  </a:txBody>
                  <a:tcPr>
                    <a:solidFill>
                      <a:srgbClr val="2B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3E6EF"/>
                          </a:solidFill>
                        </a:rPr>
                        <a:t>Manual UAT</a:t>
                      </a:r>
                    </a:p>
                  </a:txBody>
                  <a:tcPr>
                    <a:solidFill>
                      <a:srgbClr val="2B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3E6EF"/>
                          </a:solidFill>
                        </a:rPr>
                        <a:t>No-UI</a:t>
                      </a:r>
                    </a:p>
                  </a:txBody>
                  <a:tcPr>
                    <a:solidFill>
                      <a:srgbClr val="2B1A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Enrolment &amp;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Team Formation (成團)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Financial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Onboarding &amp;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Bulk Enrolment &amp;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School-Settled Invoicing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Team-Project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Learning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Anonymous &amp; Child-Safety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Admin Cockpit &amp;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1A2E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1A2E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1A2E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1A2E"/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1A2E"/>
                          </a:solidFill>
                        </a:rPr>
                        <a:t>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1A2E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1A2E"/>
                          </a:solidFill>
                        </a:rP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A8C0"/>
                </a:solidFill>
                <a:latin typeface="Arial"/>
              </a:rPr>
              <a:t>Plus 58 reconciliation assertions (nightly battery) — a separate proof layer, not in the Auto-tests column.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APPENDIX · INVARIANTS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Build invariants — DB-enforced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BI-1  </a:t>
            </a:r>
            <a:r>
              <a:rPr sz="1250">
                <a:solidFill>
                  <a:srgbClr val="F3E6EF"/>
                </a:solidFill>
              </a:rPr>
              <a:t>audit_events is INSERT-only, enforced at the database — no write path bypasses the audit service.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BI-2  </a:t>
            </a:r>
            <a:r>
              <a:rPr sz="1250">
                <a:solidFill>
                  <a:srgbClr val="F3E6EF"/>
                </a:solidFill>
              </a:rPr>
              <a:t>Receipt numbers are gapless, assigned inside the issuing transaction.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BI-3  </a:t>
            </a:r>
            <a:r>
              <a:rPr sz="1250">
                <a:solidFill>
                  <a:srgbClr val="F3E6EF"/>
                </a:solidFill>
              </a:rPr>
              <a:t>Every capacity change runs in one transaction with SELECT…FOR UPDATE on the counter row.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BI-4  </a:t>
            </a:r>
            <a:r>
              <a:rPr sz="1250">
                <a:solidFill>
                  <a:srgbClr val="F3E6EF"/>
                </a:solidFill>
              </a:rPr>
              <a:t>Enrolment &amp; payment creation are idempotent — a duplicate submit returns the original.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BI-5  </a:t>
            </a:r>
            <a:r>
              <a:rPr sz="1250">
                <a:solidFill>
                  <a:srgbClr val="F3E6EF"/>
                </a:solidFill>
              </a:rPr>
              <a:t>Order lines are immutable; corrections are new records (credit notes, refunds).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BI-6  </a:t>
            </a:r>
            <a:r>
              <a:rPr sz="1250">
                <a:solidFill>
                  <a:srgbClr val="F3E6EF"/>
                </a:solidFill>
              </a:rPr>
              <a:t>A signed consent's hash matches its language-scoped template version — no signature without a matching hash.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BI-7  </a:t>
            </a:r>
            <a:r>
              <a:rPr sz="1250">
                <a:solidFill>
                  <a:srgbClr val="F3E6EF"/>
                </a:solidFill>
              </a:rPr>
              <a:t>Enrolment reaches Withdrawn only through the withdrawal workflow.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BI-8  </a:t>
            </a:r>
            <a:r>
              <a:rPr sz="1250">
                <a:solidFill>
                  <a:srgbClr val="F3E6EF"/>
                </a:solidFill>
              </a:rPr>
              <a:t>Every status transition writes an audit event carrying the actor's identity.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BI-9  </a:t>
            </a:r>
            <a:r>
              <a:rPr sz="1250">
                <a:solidFill>
                  <a:srgbClr val="F3E6EF"/>
                </a:solidFill>
              </a:rPr>
              <a:t>Segregation of duty: recorder ≠ confirmer on manual payments and refunds — server + DB enforced.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C9A227"/>
                </a:solidFill>
              </a:rPr>
              <a:t>BI-10  </a:t>
            </a:r>
            <a:r>
              <a:rPr sz="1250">
                <a:solidFill>
                  <a:srgbClr val="F3E6EF"/>
                </a:solidFill>
              </a:rPr>
              <a:t>Uploaded files are invisible until the ClamAV scan passes.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APPENDIX · THE SPINE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The reconciliation battery &amp; elevation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Nightly reconciliation — 58 assertions, all green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F3E6EF"/>
                </a:solidFill>
                <a:latin typeface="Arial"/>
              </a:rPr>
              <a:t>A self-reconciling ledger: every receipt, obligation, invoice, budget and capacity counter must balance to its audited history. A red assertion is a stop, never a 'known-failing' skip.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Arial"/>
              </a:rPr>
              <a:t>Elevation discipline — deny by default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3E6EF"/>
                </a:solidFill>
                <a:latin typeface="Arial"/>
              </a:rPr>
              <a:t>Postgres row-level security is FORCEd. The few places that read across scope use an allowlisted elevation (caller + exact reason), and a test enumerates every one — nothing bypasses the audit. The team consent-status read returns booleans and counts only; a guardian's identity never leaves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>ROADMAP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Pending / not yet built (clearly separate from built)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12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•  UI still to come: Team roles &amp; resolution (S-UX3-3a STEP 3–4), student team formation (S-UX3-3b), attendance (S-UX3-4), and further UX cards (S-UX3-5/6/7, S-UX4).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•  Recognition: badges from completed tenures (S08), avatars (S-AVATARS).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•  Platform: notifications / dashboards / reporting (S09), hardening &amp; UAT (S10), Logto identity migration (S11).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•  Payments: QFPay adapter — Phase 2, gated by the merchant application (the interface is already built).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3E6EF"/>
                </a:solidFill>
                <a:latin typeface="Arial"/>
              </a:rPr>
              <a:t>•  Small item: audit label-resolver (friendly labels for raw audit codes).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7C16B"/>
                </a:solidFill>
                <a:latin typeface="Arial"/>
              </a:rPr>
              <a:t>None of the above has code or tests yet — it is roadmap, never counted as built.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27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3E6EF"/>
                </a:solidFill>
                <a:latin typeface="Arial"/>
              </a:rPr>
              <a:t>KA Playground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9A227"/>
                </a:solidFill>
                <a:latin typeface="Arial"/>
              </a:rPr>
              <a:t>A tested engine you can trust before the screen exists — and an honest map of the rest.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9A8C0"/>
                </a:solidFill>
                <a:latin typeface="Arial"/>
              </a:rPr>
              <a:t>Catalogue: docs/deliverables/KAP-CATALOGUE.xlsx  ·  Deck: docs/deliverables/KAP-PRESENTATION.pptx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